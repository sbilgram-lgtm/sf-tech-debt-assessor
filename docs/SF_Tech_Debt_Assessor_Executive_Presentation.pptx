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SF Tech Debt Assessor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BB2B9"/>
                </a:solidFill>
              </a:rPr>
              <a:t>Automated Salesforce Org Health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ABB2B9"/>
                </a:solidFill>
              </a:rPr>
              <a:t>23 Categories  ·  390 Checks  ·  Read-Only OAuth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Steven Bilgram, Success Architect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BB2B9"/>
                </a:solidFill>
              </a:rPr>
              <a:t>Org health reviews are manual, inconsistent, and time-consuming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B2B9"/>
                </a:solidFill>
              </a:rPr>
              <a:t>SF Tech Debt Assessor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BB2B9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3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⏱  4–8 Hours of Manual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92807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2D60"/>
                </a:solidFill>
              </a:rPr>
              <a:t>Each assessment requires navigating Setup, running ad-hoc SOQL queries,
and writing a findings document by hand.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6303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📋  No Standardised 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92807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2D60"/>
                </a:solidFill>
              </a:rPr>
              <a:t>Coverage depends entirely on individual consultant experience.
~60–70% of risk areas are reviewed in a typical manual assessment.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65760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94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🔍  No Drill-Down to Root 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24528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2D60"/>
                </a:solidFill>
              </a:rPr>
              <a:t>Findings are high-level. Clients cannot see which specific records,
rules, or users are causing the score reduction.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65760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794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📂  No Structured Remediation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24528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32D60"/>
                </a:solidFill>
              </a:rPr>
              <a:t>Recommendations are delivered as narrative text — rarely assigned,
rarely actioned. ~30–40% of findings result in a task within 90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BB2B9"/>
                </a:solidFill>
              </a:rPr>
              <a:t>SF Tech Debt Assessor — from zero to scored report in under 5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B2B9"/>
                </a:solidFill>
              </a:rPr>
              <a:t>SF Tech Debt Assessor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BB2B9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32D60"/>
                </a:solidFill>
              </a:rPr>
              <a:t>A web app that connects directly to any Salesforce org via OAuth and automatically runs a scored technical debt assessment across 23 categories and 390 checks — producing a stakeholder-ready report, drill-down record detail, and a phased remediation roadmap.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40280"/>
            <a:ext cx="2606040" cy="25603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70D2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375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2B9"/>
                </a:solidFill>
              </a:rPr>
              <a:t>Set up a Connected App
or External Client App
(one-time, ~5 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31089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18688" y="2240280"/>
            <a:ext cx="2606040" cy="25603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2331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70D2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880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Connect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33375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2B9"/>
                </a:solidFill>
              </a:rPr>
              <a:t>Authenticate via OAuth
using your org credentials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1089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17336" y="2240280"/>
            <a:ext cx="2606040" cy="25603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2331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70D2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2880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Assess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33375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2B9"/>
                </a:solidFill>
              </a:rPr>
              <a:t>23-category scan across
390 checks runs automatically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0808" y="31089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C3E50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15984" y="2240280"/>
            <a:ext cx="2606040" cy="25603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863" y="2331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70D2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863" y="2880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3" y="33375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2B9"/>
                </a:solidFill>
              </a:rPr>
              <a:t>PDF · Excel · CSV ·
Remediation Roadmap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074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F8C8D"/>
                </a:solidFill>
              </a:rPr>
              <a:t>Deployed at: sf-tech-debt-assessor-production.up.railway.app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Setup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BB2B9"/>
                </a:solidFill>
              </a:rPr>
              <a:t>Register the app once per org — takes ~5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B2B9"/>
                </a:solidFill>
              </a:rPr>
              <a:t>SF Tech Debt Assessor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BB2B9"/>
                </a:solidFill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577840" cy="384048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161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Which setup applies to your org?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609344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Go to Setup and search for External Client Apps.</a:t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>If it appears → use Option A (Spring '25+ orgs).</a:t>
            </a:r>
          </a:p>
          <a:p>
            <a:pPr algn="l"/>
            <a:r>
              <a:rPr sz="1100" b="0">
                <a:solidFill>
                  <a:srgbClr val="2C3E50"/>
                </a:solidFill>
              </a:rPr>
              <a:t>If it doesn't appear → use Option B (older orgs).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68880"/>
            <a:ext cx="5577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468880"/>
            <a:ext cx="5577840" cy="347472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9631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Option A — External Client App (Spring '25+)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85292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32D60"/>
                </a:solidFill>
              </a:rPr>
              <a:t>Setup → External Client Apps → New</a:t>
            </a:r>
          </a:p>
          <a:p>
            <a:pPr algn="l"/>
            <a:r>
              <a:rPr sz="1050" b="0">
                <a:solidFill>
                  <a:srgbClr val="032D60"/>
                </a:solidFill>
              </a:rPr>
              <a:t>Enable OAuth (PKCE handled automatically — no changes needed)</a:t>
            </a:r>
          </a:p>
          <a:p>
            <a:pPr algn="l"/>
            <a:r>
              <a:rPr sz="1050" b="0">
                <a:solidFill>
                  <a:srgbClr val="032D60"/>
                </a:solidFill>
              </a:rPr>
              <a:t>Callback URL: sf-tech-debt-assessor-production.up.railway.app/auth/callback</a:t>
            </a:r>
          </a:p>
          <a:p>
            <a:pPr algn="l"/>
            <a:r>
              <a:rPr sz="1050" b="0">
                <a:solidFill>
                  <a:srgbClr val="032D60"/>
                </a:solidFill>
              </a:rPr>
              <a:t>Scopes: api  +  refresh_token</a:t>
            </a:r>
          </a:p>
          <a:p>
            <a:pPr algn="l"/>
            <a:r>
              <a:rPr sz="1050" b="0">
                <a:solidFill>
                  <a:srgbClr val="032D60"/>
                </a:solidFill>
              </a:rPr>
              <a:t>Save → wait ~10 min → View Consumer Details for Key &amp; Secret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62272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462272"/>
            <a:ext cx="55778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89704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Option B — Connected App (older orgs)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846320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32D60"/>
                </a:solidFill>
              </a:rPr>
              <a:t>Setup → App Manager → New Connected App</a:t>
            </a:r>
          </a:p>
          <a:p>
            <a:pPr algn="l"/>
            <a:r>
              <a:rPr sz="1050" b="0">
                <a:solidFill>
                  <a:srgbClr val="032D60"/>
                </a:solidFill>
              </a:rPr>
              <a:t>Enable OAuth Settings (PKCE handled automatically — no changes needed)</a:t>
            </a:r>
          </a:p>
          <a:p>
            <a:pPr algn="l"/>
            <a:r>
              <a:rPr sz="1050" b="0">
                <a:solidFill>
                  <a:srgbClr val="032D60"/>
                </a:solidFill>
              </a:rPr>
              <a:t>Callback URL: sf-tech-debt-assessor-production.up.railway.app/auth/callback</a:t>
            </a:r>
          </a:p>
          <a:p>
            <a:pPr algn="l"/>
            <a:r>
              <a:rPr sz="1050" b="0">
                <a:solidFill>
                  <a:srgbClr val="032D60"/>
                </a:solidFill>
              </a:rPr>
              <a:t>Scopes: api  +  refresh_token</a:t>
            </a:r>
          </a:p>
          <a:p>
            <a:pPr algn="l"/>
            <a:r>
              <a:rPr sz="1050" b="0">
                <a:solidFill>
                  <a:srgbClr val="032D60"/>
                </a:solidFill>
              </a:rPr>
              <a:t>Save → wait ~10 min → Manage Consumer Details for Key &amp; Secret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188720"/>
            <a:ext cx="5577840" cy="384048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2161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Org URL formats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609344"/>
            <a:ext cx="5577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Production:   https://yourorg.my.salesforce.com</a:t>
            </a:r>
          </a:p>
          <a:p>
            <a:pPr algn="l"/>
            <a:r>
              <a:rPr sz="1050" b="0">
                <a:solidFill>
                  <a:srgbClr val="2C3E50"/>
                </a:solidFill>
              </a:rPr>
              <a:t>Sandbox:      https://yourorg--sandboxname.sandbox.my.salesforce.com</a:t>
            </a:r>
          </a:p>
          <a:p>
            <a:pPr algn="l"/>
            <a:r>
              <a:rPr sz="1050" b="0">
                <a:solidFill>
                  <a:srgbClr val="2C3E50"/>
                </a:solidFill>
              </a:rPr>
              <a:t>Trailhead:    https://yourorg-dev-ed.trailblaze.my.salesforce.com</a:t>
            </a:r>
          </a:p>
          <a:p>
            <a:pPr algn="l"/>
            <a:r>
              <a:rPr sz="1050" b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050" b="0">
                <a:solidFill>
                  <a:srgbClr val="2C3E50"/>
                </a:solidFill>
              </a:rPr>
              <a:t>Do NOT use .lightning.force.com URLs.</a:t>
            </a:r>
          </a:p>
          <a:p>
            <a:pPr algn="l"/>
            <a:r>
              <a:rPr sz="1050" b="0">
                <a:solidFill>
                  <a:srgbClr val="2C3E50"/>
                </a:solidFill>
              </a:rPr>
              <a:t>Copy the My Domain URL from Setup → Company Settings → My Domain.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090672"/>
            <a:ext cx="5577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090672"/>
            <a:ext cx="557784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118104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Required user permissions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474720"/>
            <a:ext cx="5257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32D60"/>
                </a:solidFill>
              </a:rPr>
              <a:t>API Enabled</a:t>
            </a:r>
          </a:p>
          <a:p>
            <a:pPr algn="l"/>
            <a:r>
              <a:rPr sz="1050" b="0">
                <a:solidFill>
                  <a:srgbClr val="032D60"/>
                </a:solidFill>
              </a:rPr>
              <a:t>View Setup and Configuration</a:t>
            </a:r>
          </a:p>
          <a:p>
            <a:pPr algn="l"/>
            <a:r>
              <a:rPr sz="1050" b="0">
                <a:solidFill>
                  <a:srgbClr val="032D60"/>
                </a:solidFill>
              </a:rPr>
              <a:t>Modify Metadata Through Metadata API Functions</a:t>
            </a:r>
          </a:p>
          <a:p>
            <a:pPr algn="l"/>
            <a:r>
              <a:rPr sz="1050" b="0">
                <a:solidFill>
                  <a:srgbClr val="032D60"/>
                </a:solidFill>
              </a:rPr>
              <a:t>(System Administrator profile covers all of the above)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407408"/>
            <a:ext cx="557784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407408"/>
            <a:ext cx="5577840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43484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Common errors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800600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32D60"/>
                </a:solidFill>
              </a:rPr>
              <a:t>redirect_uri_mismatch → Callback URL doesn't match exactly.</a:t>
            </a:r>
          </a:p>
          <a:p>
            <a:pPr algn="l"/>
            <a:r>
              <a:rPr sz="1000" b="0">
                <a:solidFill>
                  <a:srgbClr val="032D60"/>
                </a:solidFill>
              </a:rPr>
              <a:t>  Update it, save, wait ~10 min, retry.</a:t>
            </a:r>
          </a:p>
          <a:p>
            <a:pPr algn="l"/>
            <a:r>
              <a:rPr sz="1000" b="0">
                <a:solidFill>
                  <a:srgbClr val="032D60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032D60"/>
                </a:solidFill>
              </a:rPr>
              <a:t>missing required code challenge → PKCE is still enabled.</a:t>
            </a:r>
          </a:p>
          <a:p>
            <a:pPr algn="l"/>
            <a:r>
              <a:rPr sz="1000" b="0">
                <a:solidFill>
                  <a:srgbClr val="032D60"/>
                </a:solidFill>
              </a:rPr>
              <a:t>  Uncheck 'Require PKCE' in the app settings, save, retry.</a:t>
            </a:r>
          </a:p>
          <a:p>
            <a:pPr algn="l"/>
            <a:r>
              <a:rPr sz="1000" b="0">
                <a:solidFill>
                  <a:srgbClr val="032D60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032D60"/>
                </a:solidFill>
              </a:rPr>
              <a:t>App not responding? Check Railway dashboard for service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It Assesses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BB2B9"/>
                </a:solidFill>
              </a:rPr>
              <a:t>23 categories · 390 checks covering the full Salesforce technical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B2B9"/>
                </a:solidFill>
              </a:rPr>
              <a:t>SF Tech Debt Assessor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BB2B9"/>
                </a:solidFill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61872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07592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Sharing &amp;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7" y="1325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35 checks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79" y="1261872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307592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Connected App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7" y="1325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13 checks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19" y="1261872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307592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Experience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96728" y="1325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17 checks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746504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792224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Code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7" y="18105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52 checks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79" y="1746504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792224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Test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7" y="18105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7 checks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19" y="1746504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1792224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LWC &amp; Components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96728" y="18105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39 checks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231136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276856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OmniStudio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98647" y="22951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26 checks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69079" y="2231136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2276856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Flow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7687" y="22951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11 checks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19" y="2231136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2276856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Performance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96728" y="22951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22 checks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715768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761487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Org Limits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98647" y="277977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5 checks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69079" y="2715768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2761487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Platform Events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7687" y="277977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3 checks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19" y="2715768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79" y="2761487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Configuration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96728" y="277977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22 checks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200400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246120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Data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98647" y="32644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7 checks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69079" y="3200400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3246120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Record Types &amp; Layouts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47687" y="32644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5 checks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19" y="3200400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79" y="3246120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Custom Metadata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96728" y="32644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4 checks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685032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730752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Duplicate Rules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98647" y="3749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4 checks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69079" y="3685032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06240" y="3730752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Integrations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47687" y="3749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11 checks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18119" y="3685032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55279" y="3730752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Service Cloud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96728" y="3749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70 checks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4169664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4215384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Einstein &amp; AI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98647" y="4233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9 checks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69079" y="4169664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06240" y="4215384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Managed Packages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47687" y="4233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4 checks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18119" y="4169664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55279" y="4215384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Reports &amp; Dashboards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96728" y="4233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9 checks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4654296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4700016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Email Templates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98647" y="47183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3 checks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069079" y="4654296"/>
            <a:ext cx="361187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06240" y="4700016"/>
            <a:ext cx="26517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✓  Notes &amp; Attachments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47687" y="47183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7F8C8D"/>
                </a:solidFill>
              </a:rPr>
              <a:t>12 checks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BB2B9"/>
                </a:solidFill>
              </a:rPr>
              <a:t>Designed for consultants, admins, and customers — minimal setup, instant insight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B2B9"/>
                </a:solidFill>
              </a:rPr>
              <a:t>SF Tech Debt Assessor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BB2B9"/>
                </a:solidFill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61872"/>
            <a:ext cx="55778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61872"/>
            <a:ext cx="164592" cy="1536192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533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70D2"/>
                </a:solidFill>
              </a:rPr>
              <a:t>Branded Split-Screen Landing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Salesforce blue gradient hero panel with headline, stats bar, and 23-category grid displayed alongside the OAuth credential form — value proposition visible at the moment of login.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61872"/>
            <a:ext cx="55778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61872"/>
            <a:ext cx="164592" cy="153619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3533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8E44AD"/>
                </a:solidFill>
              </a:rPr>
              <a:t>Category Detail Modals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173736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Click any category card on the landing page to instantly see all checks for that category, each with a color-coded severity badge (Critical · High · Medium · Low).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53512"/>
            <a:ext cx="55778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953512"/>
            <a:ext cx="164592" cy="1536192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49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70D2"/>
                </a:solidFill>
              </a:rPr>
              <a:t>Auto-Run on 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2900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The assessment starts immediately after OAuth completion — no intermediate screen, no extra button click. Progress is shown category by category as the scan runs.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53512"/>
            <a:ext cx="55778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53512"/>
            <a:ext cx="164592" cy="1536192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30449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35400"/>
                </a:solidFill>
              </a:rPr>
              <a:t>Drill-Down to Affected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342900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Every finding expands to show the exact classes, rules, users, fields, or pages causing the score deduction — not just high-level categories.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645152"/>
            <a:ext cx="55778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645152"/>
            <a:ext cx="164592" cy="153619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365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8E44AD"/>
                </a:solidFill>
              </a:rPr>
              <a:t>4-Phase Remediation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2064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Full-screen phased action plan ordered by severity then category. Every item includes title, description, recommendation, and record count. Print or save as PDF in one click.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645152"/>
            <a:ext cx="55778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645152"/>
            <a:ext cx="164592" cy="15361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47365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7AE60"/>
                </a:solidFill>
              </a:rPr>
              <a:t>AI Chat Panel (Powered by Gemini)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512064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32D60"/>
                </a:solidFill>
              </a:rPr>
              <a:t>Ask AI opens a side panel with the full assessment context pre-loaded. Ask questions like 'What are the quick wins?' or 'Estimate total remediation effort' and get streamed, markdown-formatted answers grounded in the org's findings.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BB2B9"/>
                </a:solidFill>
              </a:rPr>
              <a:t>What changes for every persona who uses the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B2B9"/>
                </a:solidFill>
              </a:rPr>
              <a:t>SF Tech Debt Assessor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BB2B9"/>
                </a:solidFill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164592" cy="150876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898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0D2"/>
                </a:solidFill>
              </a:rPr>
              <a:t>Consultant / 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5564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32D60"/>
                </a:solidFill>
              </a:rPr>
              <a:t>Delivers a scored assessment in the kickoff meeting.
Eliminates 4–8 hrs of manual work per engagement.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164592" cy="1508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3898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Salesforce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175564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32D60"/>
                </a:solidFill>
              </a:rPr>
              <a:t>Gains visibility into hidden risk.
Self-sufficient — no consultant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7180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971800"/>
            <a:ext cx="164592" cy="1508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815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</a:rPr>
              <a:t>IT Manager / Director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4728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32D60"/>
                </a:solidFill>
              </a:rPr>
              <a:t>Receives evidence-backed, export-ready reports.
Faster decisions, clearer remediation investment.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7180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71800"/>
            <a:ext cx="164592" cy="150876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30815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35400"/>
                </a:solidFill>
              </a:rPr>
              <a:t>Practice Lead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344728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32D60"/>
                </a:solidFill>
              </a:rPr>
              <a:t>Standardises delivery across the team.
Enables a repeatable assessment service offering.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66344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32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663440"/>
            <a:ext cx="164592" cy="1508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73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Customer Success Mgr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38927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32D60"/>
                </a:solidFill>
              </a:rPr>
              <a:t>Identifies at-risk customers before issues escalate.
Elevates QBRs with objective org health scores.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66344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663440"/>
            <a:ext cx="164592" cy="1508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4773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End Client / Stakeholder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5138927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32D60"/>
                </a:solidFill>
              </a:rPr>
              <a:t>Understands risk without deep Salesforce expertise.
Receives a phased action plan on day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Quantified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BB2B9"/>
                </a:solidFill>
              </a:rPr>
              <a:t>Measured against the manual assessment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B2B9"/>
                </a:solidFill>
              </a:rPr>
              <a:t>SF Tech Debt Assessor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BB2B9"/>
                </a:solidFill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7AE60"/>
                </a:solidFill>
              </a:rPr>
              <a:t>6–8 hrs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32D60"/>
                </a:solidFill>
              </a:rPr>
              <a:t>Saved per
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32588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08760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70D2"/>
                </a:solidFill>
              </a:rPr>
              <a:t>60–70%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3172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32D60"/>
                </a:solidFill>
              </a:rPr>
              <a:t>Reduction in
time to first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32588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508760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8E44AD"/>
                </a:solidFill>
              </a:rPr>
              <a:t>3–5×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33172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32D60"/>
                </a:solidFill>
              </a:rPr>
              <a:t>Increase in
assessment frequency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49039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31920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35400"/>
                </a:solidFill>
              </a:rPr>
              <a:t>$900–$2K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54879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32D60"/>
                </a:solidFill>
              </a:rPr>
              <a:t>Cost savings
per engagement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3749039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931920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0392B"/>
                </a:solidFill>
              </a:rPr>
              <a:t>20–30%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754879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32D60"/>
                </a:solidFill>
              </a:rPr>
              <a:t>Reduction in reactive
support cases / quarter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3749039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32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59" y="3931920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32D60"/>
                </a:solidFill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9" y="4754879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32D60"/>
                </a:solidFill>
              </a:rPr>
              <a:t>Category coverage
every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BB2B9"/>
                </a:solidFill>
              </a:rPr>
              <a:t>Every assessment produces four ready-to-use artifacts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B2B9"/>
                </a:solidFill>
              </a:rPr>
              <a:t>SF Tech Debt Assessor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BB2B9"/>
                </a:solidFill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5577840" cy="438912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441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Export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32D60"/>
                </a:solidFill>
              </a:rPr>
              <a:t>Full scored report with category breakdowns, findings, recommendations, and affected records per issue. Includes Org Name, Org ID, Type, Instance, and URL. Ideal for customer presentations and stakeholder reviews.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57784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441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Export Excel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19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32D60"/>
                </a:solidFill>
              </a:rPr>
              <a:t>One tab per category plus a Summary tab. Each tab lists all findings with affected records inline. Includes org metadata on every tab. Opens directly in Excel for further analysis or import.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57600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657600"/>
            <a:ext cx="557784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216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Export 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5196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32D60"/>
                </a:solidFill>
              </a:rPr>
              <a:t>Flat file with one row per affected record across all categories. Includes org identifier columns on every row. Ideal for importing into a project tracker, Jira, or remediation backlog.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657600"/>
            <a:ext cx="5577840" cy="43891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7216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Remediation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32D60"/>
                </a:solidFill>
              </a:rPr>
              <a:t>Full-screen 4-phase action plan ordered by severity (Critical → High → Medium → Low), then by category. Each item includes title, description, recommended action, and affected record count. Print or save as PDF in one click.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Important Disclaimer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BB2B9"/>
                </a:solidFill>
              </a:rPr>
              <a:t>Please read before using this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B2B9"/>
                </a:solidFill>
              </a:rPr>
              <a:t>SF Tech Debt Assessor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BB2B9"/>
                </a:solidFill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11274552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1274552" cy="438912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Important Disclaimer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32D60"/>
                </a:solidFill>
              </a:rPr>
              <a:t>Tech Debt Assessor is provided "as is," without warranties. Its assessments and</a:t>
            </a:r>
          </a:p>
          <a:p>
            <a:pPr algn="l"/>
            <a:r>
              <a:rPr sz="1300" b="0">
                <a:solidFill>
                  <a:srgbClr val="032D60"/>
                </a:solidFill>
              </a:rPr>
              <a:t>recommendations reflect my professional experience as a technical architect but are</a:t>
            </a:r>
          </a:p>
          <a:p>
            <a:pPr algn="l"/>
            <a:r>
              <a:rPr sz="1300" b="0">
                <a:solidFill>
                  <a:srgbClr val="032D60"/>
                </a:solidFill>
              </a:rPr>
              <a:t>intended as decision-support guidance, not legal, regulatory, or financial advice.</a:t>
            </a:r>
          </a:p>
          <a:p>
            <a:pPr algn="l"/>
            <a:r>
              <a:rPr sz="1300" b="0">
                <a:solidFill>
                  <a:srgbClr val="032D60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032D60"/>
                </a:solidFill>
              </a:rPr>
              <a:t>Users are responsible for validating results and adapting recommendations to their</a:t>
            </a:r>
          </a:p>
          <a:p>
            <a:pPr algn="l"/>
            <a:r>
              <a:rPr sz="1300" b="0">
                <a:solidFill>
                  <a:srgbClr val="032D60"/>
                </a:solidFill>
              </a:rPr>
              <a:t>specific environment, requirements, and risks. I accept no liability for its use or</a:t>
            </a:r>
          </a:p>
          <a:p>
            <a:pPr algn="l"/>
            <a:r>
              <a:rPr sz="1300" b="0">
                <a:solidFill>
                  <a:srgbClr val="032D60"/>
                </a:solidFill>
              </a:rPr>
              <a:t>misuse; by using the software, you accept these terms.</a:t>
            </a:r>
          </a:p>
          <a:p>
            <a:pPr algn="l"/>
            <a:r>
              <a:rPr sz="1300" b="0">
                <a:solidFill>
                  <a:srgbClr val="032D60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032D60"/>
                </a:solidFill>
              </a:rPr>
              <a:t>This tool is independent and is not affiliated with or endorsed by Salesforce, Inc.</a:t>
            </a:r>
          </a:p>
          <a:p>
            <a:pPr algn="l"/>
            <a:r>
              <a:rPr sz="1300" b="0">
                <a:solidFill>
                  <a:srgbClr val="032D60"/>
                </a:solidFill>
              </a:rPr>
              <a:t>"Salesforce" is a trademark of Salesforce, Inc.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Ready to See It in Action?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BB2B9"/>
                </a:solidFill>
              </a:rPr>
              <a:t>SF Tech Debt Assessor is live and available today.
Connect any Salesforce org and run a full 23-category, 390-check assessment in under 5 minutes.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926080"/>
            <a:ext cx="2743200" cy="1188720"/>
          </a:xfrm>
          <a:prstGeom prst="rect">
            <a:avLst/>
          </a:prstGeom>
          <a:solidFill>
            <a:srgbClr val="07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11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BB2B9"/>
                </a:solidFill>
              </a:rPr>
              <a:t>Categories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926080"/>
            <a:ext cx="2743200" cy="1188720"/>
          </a:xfrm>
          <a:prstGeom prst="rect">
            <a:avLst/>
          </a:prstGeom>
          <a:solidFill>
            <a:srgbClr val="07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0175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BB2B9"/>
                </a:solidFill>
              </a:rPr>
              <a:t>Checks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926080"/>
            <a:ext cx="2743200" cy="1188720"/>
          </a:xfrm>
          <a:prstGeom prst="rect">
            <a:avLst/>
          </a:prstGeom>
          <a:solidFill>
            <a:srgbClr val="07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30175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611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BB2B9"/>
                </a:solidFill>
              </a:rPr>
              <a:t>Read-Only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5848" y="4434840"/>
            <a:ext cx="5486400" cy="658368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446227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sf-tech-debt-assessor-production.up.railway.app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Built by Steven Bilgram, Success Architect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BB2B9"/>
                </a:solidFill>
              </a:rPr>
              <a:t>Independent tool — not affiliated with or endorsed by Salesforce, 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