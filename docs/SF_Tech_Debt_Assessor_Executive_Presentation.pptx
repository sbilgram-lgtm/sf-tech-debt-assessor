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132320" y="0"/>
            <a:ext cx="1097280" cy="685800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457200"/>
            <a:ext cx="2011680" cy="64008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7548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Salesforce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459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D0EEF8"/>
                </a:solidFill>
              </a:rPr>
              <a:t>Salesforce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48840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Tech Debt Assessor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291840"/>
            <a:ext cx="6858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0EEF8"/>
                </a:solidFill>
              </a:rPr>
              <a:t>A comprehensive, read-only org health assessment across
341 checks in 23 categories — surfacing technical debt,
security gaps, and actionable remediation priorities.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Steven Bilgram  |  Success Architect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3949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0EEF8"/>
                </a:solidFill>
              </a:rPr>
              <a:t>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1371600"/>
            <a:ext cx="30175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4173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6255E"/>
                </a:solidFill>
              </a:rPr>
              <a:t>341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193852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45454"/>
                </a:solidFill>
              </a:rPr>
              <a:t>Total Checks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03920" y="2560320"/>
            <a:ext cx="30175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60603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6255E"/>
                </a:solidFill>
              </a:rPr>
              <a:t>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312724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45454"/>
                </a:solidFill>
              </a:rPr>
              <a:t>Categories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0" y="3749039"/>
            <a:ext cx="30175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3794759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6255E"/>
                </a:solidFill>
              </a:rPr>
              <a:t>Read-Only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3159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45454"/>
                </a:solidFill>
              </a:rPr>
              <a:t>Zero Org Impact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4937760"/>
            <a:ext cx="301752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49834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6255E"/>
                </a:solidFill>
              </a:rPr>
              <a:t>&lt; 60s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550468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45454"/>
                </a:solidFill>
              </a:rPr>
              <a:t>Full Assessment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0EEF8"/>
                </a:solidFill>
              </a:rPr>
              <a:t>Salesforce orgs accumulate technical debt silently — until it costs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0EEF8"/>
                </a:solidFill>
              </a:rPr>
              <a:t>SF Tech Debt Assessor  |  Confidential  |  Steven Bilgram, Success Architect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0EEF8"/>
                </a:solidFill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234440"/>
            <a:ext cx="3749039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00A1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234440"/>
            <a:ext cx="3749039" cy="347472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27101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Security gaps go undetected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1673352"/>
            <a:ext cx="3529584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OWD misconfiguration, guest access, missing MFA, stale OAuth tokens — none visible without a deep audit.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1234440"/>
            <a:ext cx="3749039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00A1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59" y="1234440"/>
            <a:ext cx="3749039" cy="347472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399" y="127101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Platform deprecations break releases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1673352"/>
            <a:ext cx="3529584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SOAP login(), retired API versions, Session IDs in Outbound Messages, PushTopics — all with hard enforcement dates.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234440"/>
            <a:ext cx="3749039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00A1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234440"/>
            <a:ext cx="3749039" cy="347472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27101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Automation complexity compounds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1673352"/>
            <a:ext cx="3529584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Workflow Rules, Process Builders, and Flows overlap with no single view of routing, coverage, or risk.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49039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00A1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3703320"/>
            <a:ext cx="3749039" cy="347472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73989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Test coverage is misleading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4142232"/>
            <a:ext cx="3529584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Managed package classes inflate coverage numbers. Abstract classes with zero executable lines show as untested.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59" y="3703320"/>
            <a:ext cx="3749039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00A1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59" y="3703320"/>
            <a:ext cx="3749039" cy="347472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399" y="3739896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Consultant assessments take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4142232"/>
            <a:ext cx="3529584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</a:rPr>
              <a:t>Manual review across 23 areas — org limits, sharing rules, flows, Knowledge, entitlements — takes 2–3 days per engagement.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the SF Tech Debt Assessor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0EEF8"/>
                </a:solidFill>
              </a:rPr>
              <a:t>Connect any org. Get a full health report in under 60 seconds.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0EEF8"/>
                </a:solidFill>
              </a:rPr>
              <a:t>SF Tech Debt Assessor  |  Confidential  |  Steven Bilgram, Success Architect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0EEF8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1887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45454"/>
                </a:solidFill>
              </a:rPr>
              <a:t>One OAuth connection. No data written to Salesforce. All metadata is ephemeral.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37744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00A1E0"/>
                </a:solidFill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37744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00A1E0"/>
                </a:solidFill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2377440"/>
            <a:ext cx="457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00A1E0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1828800"/>
            <a:ext cx="2651760" cy="301752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1920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A1E0"/>
                </a:solidFill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4231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88036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EF8"/>
                </a:solidFill>
              </a:rPr>
              <a:t>Enter org URL, Client ID, Client Secret.
OAuth login — same as any Salesforce app.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828800"/>
            <a:ext cx="2651760" cy="301752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1840" y="1920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A1E0"/>
                </a:solidFill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4231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288036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EF8"/>
                </a:solidFill>
              </a:rPr>
              <a:t>341 checks run automatically across
23 categories in parallel. ~45 seconds.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1828800"/>
            <a:ext cx="2651760" cy="301752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920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A1E0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4231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88036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EF8"/>
                </a:solidFill>
              </a:rPr>
              <a:t>Colour-coded category grid with scores.
Expand any finding to see affected records.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1828800"/>
            <a:ext cx="2651760" cy="301752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0" y="19202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A1E0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242316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Export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880360"/>
            <a:ext cx="2468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EF8"/>
                </a:solidFill>
              </a:rPr>
              <a:t>PDF report, Excel workbook, CSV flat file,
or Remediation Roadmap (print to PDF).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074920"/>
            <a:ext cx="11612880" cy="1097280"/>
          </a:xfrm>
          <a:prstGeom prst="rect">
            <a:avLst/>
          </a:prstGeom>
          <a:solidFill>
            <a:srgbClr val="D0E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16636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6255E"/>
                </a:solidFill>
              </a:rPr>
              <a:t>✓  Read-only — zero writes to Salesforce</a:t>
            </a:r>
          </a:p>
          <a:p>
            <a:r>
              <a:rPr sz="1200" b="0">
                <a:solidFill>
                  <a:srgbClr val="16255E"/>
                </a:solidFill>
              </a:rPr>
              <a:t>  |  ✓  No database — results live only in the browser tab</a:t>
            </a:r>
          </a:p>
          <a:p>
            <a:r>
              <a:rPr sz="1200" b="0">
                <a:solidFill>
                  <a:srgbClr val="16255E"/>
                </a:solidFill>
              </a:rPr>
              <a:t>  |  ✓  OAuth tokens expire after 1 hour</a:t>
            </a:r>
          </a:p>
          <a:p>
            <a:r>
              <a:rPr sz="1200" b="0">
                <a:solidFill>
                  <a:srgbClr val="16255E"/>
                </a:solidFill>
              </a:rPr>
              <a:t>  |  ✓  Hosted at sf-tech-debt-assessor.onrender.com</a:t>
            </a:r>
          </a:p>
          <a:p>
            <a:r>
              <a:rPr sz="1200" b="0">
                <a:solidFill>
                  <a:srgbClr val="16255E"/>
                </a:solidFill>
              </a:rPr>
              <a:t>  |  ✓  Docker image available for on-premises / VPN use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23 Assessment Categories — 341 Checks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0EEF8"/>
                </a:solidFill>
              </a:rPr>
              <a:t>Every category contributes to an overall org health score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0EEF8"/>
                </a:solidFill>
              </a:rPr>
              <a:t>SF Tech Debt Assessor  |  Confidential  |  Steven Bilgram, Success Architect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0EEF8"/>
                </a:solidFill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" y="1188720"/>
            <a:ext cx="1904999" cy="658368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120700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A1E0"/>
                </a:solidFill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" y="151790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Configuration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6168" y="1188720"/>
            <a:ext cx="1904999" cy="658368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79320" y="120700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A1E0"/>
                </a:solidFill>
              </a:rPr>
              <a:t>46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79320" y="151790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Code Quality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02607" y="1188720"/>
            <a:ext cx="1904999" cy="658368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75760" y="120700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A1E0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5760" y="151790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Data 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9047" y="1188720"/>
            <a:ext cx="1904999" cy="658368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2199" y="120700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69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199" y="151790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Service Cloud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95487" y="1188720"/>
            <a:ext cx="1904999" cy="658368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68639" y="120700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24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68639" y="151790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Sharing &amp; Security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91927" y="1188720"/>
            <a:ext cx="1904999" cy="658368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65079" y="120700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65079" y="151790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Integrations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" y="1920240"/>
            <a:ext cx="1904999" cy="658368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2880" y="193852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" y="224942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Test Coverage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06168" y="1920240"/>
            <a:ext cx="1904999" cy="658368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79320" y="193852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79320" y="224942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Org Limits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02607" y="1920240"/>
            <a:ext cx="1904999" cy="65836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75760" y="193852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255E"/>
                </a:solidFill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75760" y="224942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Duplicate Rules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9047" y="1920240"/>
            <a:ext cx="1904999" cy="65836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72199" y="193852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255E"/>
                </a:solidFill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199" y="224942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Reports &amp; Dashboards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95487" y="1920240"/>
            <a:ext cx="1904999" cy="65836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68639" y="193852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255E"/>
                </a:solidFill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68639" y="224942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Email Templates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91927" y="1920240"/>
            <a:ext cx="1904999" cy="65836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65079" y="193852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255E"/>
                </a:solidFill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65079" y="224942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Platform Events &amp; CDC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9728" y="2651760"/>
            <a:ext cx="1904999" cy="65836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2880" y="267004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255E"/>
                </a:solidFill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2880" y="298094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Managed Packages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106168" y="2651760"/>
            <a:ext cx="1904999" cy="65836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79320" y="267004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255E"/>
                </a:solidFill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79320" y="298094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Custom Metadata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02607" y="2651760"/>
            <a:ext cx="1904999" cy="65836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75760" y="267004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255E"/>
                </a:solidFill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75760" y="298094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Record Types &amp; Layouts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9047" y="2651760"/>
            <a:ext cx="1904999" cy="65836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199" y="267004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255E"/>
                </a:solidFill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72199" y="298094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Einstein &amp; AI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95487" y="2651760"/>
            <a:ext cx="1904999" cy="65836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68639" y="267004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255E"/>
                </a:solidFill>
              </a:rPr>
              <a:t>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68639" y="298094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Experience Cloud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091927" y="2651760"/>
            <a:ext cx="1904999" cy="65836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165079" y="267004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255E"/>
                </a:solidFill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65079" y="298094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Connected App Security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9728" y="3383280"/>
            <a:ext cx="1904999" cy="65836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2880" y="340156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255E"/>
                </a:solidFill>
              </a:rPr>
              <a:t>39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2880" y="371246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LWC &amp; Components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106168" y="3383280"/>
            <a:ext cx="1904999" cy="65836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179320" y="340156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255E"/>
                </a:solidFill>
              </a:rPr>
              <a:t>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79320" y="371246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OmniStudio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02607" y="3383280"/>
            <a:ext cx="1904999" cy="65836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75760" y="340156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255E"/>
                </a:solidFill>
              </a:rPr>
              <a:t>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75760" y="371246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Performance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099047" y="3383280"/>
            <a:ext cx="1904999" cy="65836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172199" y="340156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255E"/>
                </a:solidFill>
              </a:rPr>
              <a:t>12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72199" y="371246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Notes &amp; Attachments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95487" y="3383280"/>
            <a:ext cx="1904999" cy="658368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168639" y="340156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255E"/>
                </a:solidFill>
              </a:rPr>
              <a:t>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68639" y="3712464"/>
            <a:ext cx="181355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</a:rPr>
              <a:t>Flow Quality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74320" y="640080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45454"/>
                </a:solidFill>
              </a:rPr>
              <a:t>Dark navy = most impactful categories  •  Blue = high check density  •  All 23 categories scored 0–100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Service Cloud — 69 Checks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0EEF8"/>
                </a:solidFill>
              </a:rPr>
              <a:t>The most comprehensive Service Cloud org audit available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0EEF8"/>
                </a:solidFill>
              </a:rPr>
              <a:t>SF Tech Debt Assessor  |  Confidential  |  Steven Bilgram, Success Architect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0EEF8"/>
                </a:solidFill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" y="1170432"/>
            <a:ext cx="2926080" cy="21945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" y="1170432"/>
            <a:ext cx="2926080" cy="32004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" y="1207008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Case Configuration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" y="155448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Excessive queues (&gt;25)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" y="195681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Inactive record types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" y="235915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Legacy assignment/escalation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" y="276148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Unverified OWAs ⚠ Spring '26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0" y="1170432"/>
            <a:ext cx="2926080" cy="21945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108960" y="1170432"/>
            <a:ext cx="2926080" cy="32004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0" y="1207008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Omni-Channel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155448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No service channels configured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195681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Tab-based capacity (legacy)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235915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No push timeout on routing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276148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No presence configurations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08192" y="1170432"/>
            <a:ext cx="2926080" cy="21945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08192" y="1170432"/>
            <a:ext cx="2926080" cy="32004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99632" y="1207008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Knowledge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9632" y="155448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No published articles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99632" y="195681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Stalled draft articles (180+ days)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9632" y="235915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Stale published articles (12+ months)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9632" y="276148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No data category groups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07424" y="1170432"/>
            <a:ext cx="2926080" cy="21945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07424" y="1170432"/>
            <a:ext cx="2926080" cy="32004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98863" y="1207008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Entitlements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98863" y="155448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No business hours on SLA processes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98863" y="195681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No milestone actions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98863" y="235915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Open cases with no SLA start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98863" y="276148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Expired entitlements still active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9728" y="3456432"/>
            <a:ext cx="2926080" cy="21945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9728" y="3456432"/>
            <a:ext cx="2926080" cy="32004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1168" y="3493008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Email-to-Case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1168" y="384048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Routing addresses without TLS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" y="424281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No default case owner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1168" y="464515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Email threading gaps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1168" y="504748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Unrestricted email service addresses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08960" y="3456432"/>
            <a:ext cx="2926080" cy="21945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08960" y="3456432"/>
            <a:ext cx="2926080" cy="32004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0" y="3493008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SLA &amp; Case Health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0" y="384048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Active milestone violations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424281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Stale escalated cases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0" y="464515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High zero-touch close rate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504748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Cases with no contact/account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3456432"/>
            <a:ext cx="2926080" cy="21945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08192" y="3456432"/>
            <a:ext cx="2926080" cy="32004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99632" y="3493008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Live Chat / MIAW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99632" y="384048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Non-Omni-Channel chat buttons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99632" y="424281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Legacy Live Chat — MIAW not adopted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99632" y="464515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Chat buttons → deleted queues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99632" y="504748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Messaging channels without OPTOUT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07424" y="3456432"/>
            <a:ext cx="2926080" cy="219456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07424" y="3456432"/>
            <a:ext cx="2926080" cy="32004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98863" y="3493008"/>
            <a:ext cx="2788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Agent Efficiency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98863" y="384048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No Service Console app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98863" y="424281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No active macros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98863" y="464515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No Quick Texts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98863" y="504748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• No Einstein NBA strategies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Security &amp; Platform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0EEF8"/>
                </a:solidFill>
              </a:rPr>
              <a:t>Deprecation deadlines and security gaps that require immediate attention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0EEF8"/>
                </a:solidFill>
              </a:rPr>
              <a:t>SF Tech Debt Assessor  |  Confidential  |  Steven Bilgram, Success Architect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0EEF8"/>
                </a:solidFill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143000"/>
            <a:ext cx="5486400" cy="53035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20700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55E"/>
                </a:solidFill>
              </a:rPr>
              <a:t>Breaking Changes — Enforcement Timeline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691640"/>
            <a:ext cx="1371600" cy="347472"/>
          </a:xfrm>
          <a:prstGeom prst="rect">
            <a:avLst/>
          </a:prstGeom>
          <a:solidFill>
            <a:srgbClr val="C239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169164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Feb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01368" y="1728216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⚠ Session IDs in Outbound Messages retired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185416"/>
            <a:ext cx="1371600" cy="347472"/>
          </a:xfrm>
          <a:prstGeom prst="rect">
            <a:avLst/>
          </a:prstGeom>
          <a:solidFill>
            <a:srgbClr val="C239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1854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Mar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2221992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⚠ CA certificates max lifespan 200 days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2679192"/>
            <a:ext cx="1371600" cy="347472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267919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Spring '26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2715768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⚠ SOAP login() disabled for new orgs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172968"/>
            <a:ext cx="1371600" cy="347472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1729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Spring '26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1368" y="3209544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⚠ My Domain login URL enforced (production)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666744"/>
            <a:ext cx="1371600" cy="347472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6667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Spring '26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01368" y="3703320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⚠ Unverified OWAs fail to send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160520"/>
            <a:ext cx="1371600" cy="347472"/>
          </a:xfrm>
          <a:prstGeom prst="rect">
            <a:avLst/>
          </a:prstGeom>
          <a:solidFill>
            <a:srgbClr val="C239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416052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May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01368" y="4197096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⚠ Phishing-resistant MFA for privileged users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654296"/>
            <a:ext cx="1371600" cy="347472"/>
          </a:xfrm>
          <a:prstGeom prst="rect">
            <a:avLst/>
          </a:prstGeom>
          <a:solidFill>
            <a:srgbClr val="F5B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46542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Summer '26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01368" y="4690872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→ WCAG 2.2 force-applied to Experience Cloud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148072"/>
            <a:ext cx="1371600" cy="347472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0040" y="51480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Summer '26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01368" y="5184648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→ PushTopics (Streaming API) deprecated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5641848"/>
            <a:ext cx="1371600" cy="347472"/>
          </a:xfrm>
          <a:prstGeom prst="rect">
            <a:avLst/>
          </a:prstGeom>
          <a:solidFill>
            <a:srgbClr val="C239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564184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Summer '27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01368" y="5678424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→ SOAP login() hard retirement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89320" y="1143000"/>
            <a:ext cx="5989320" cy="530352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0" y="120700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Sharing &amp; Security Checks (24 total)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80760" y="1691640"/>
            <a:ext cx="1005840" cy="274320"/>
          </a:xfrm>
          <a:prstGeom prst="rect">
            <a:avLst/>
          </a:prstGeom>
          <a:solidFill>
            <a:srgbClr val="C239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16916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Critical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2020824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EF8"/>
                </a:solidFill>
              </a:rPr>
              <a:t>• OWD Public Read/Write (internal &amp; external)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72200" y="2350008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EF8"/>
                </a:solidFill>
              </a:rPr>
              <a:t>• Non-admin users with Modify All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2679191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EF8"/>
                </a:solidFill>
              </a:rPr>
              <a:t>• Users with no MFA enrollment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80760" y="3063239"/>
            <a:ext cx="1005840" cy="27432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80760" y="30632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High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72200" y="3392423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EF8"/>
                </a:solidFill>
              </a:rPr>
              <a:t>• Guest access to objects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72200" y="3721607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EF8"/>
                </a:solidFill>
              </a:rPr>
              <a:t>• Cloned System Administrator profiles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72200" y="4050791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EF8"/>
                </a:solidFill>
              </a:rPr>
              <a:t>• Transaction Security Policies not configured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72200" y="4379976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EF8"/>
                </a:solidFill>
              </a:rPr>
              <a:t>• Privileged permission sets — broad access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80760" y="4764024"/>
            <a:ext cx="1005840" cy="274320"/>
          </a:xfrm>
          <a:prstGeom prst="rect">
            <a:avLst/>
          </a:prstGeom>
          <a:solidFill>
            <a:srgbClr val="F5B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80760" y="47640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Medium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72200" y="5093208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EF8"/>
                </a:solidFill>
              </a:rPr>
              <a:t>• Users with password never expires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72200" y="5422392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EF8"/>
                </a:solidFill>
              </a:rPr>
              <a:t>• Low-security sessions (&gt; 20, MFA not enforced)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72200" y="5751576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EF8"/>
                </a:solidFill>
              </a:rPr>
              <a:t>• OAuth tokens for deactivated users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80760" y="6135624"/>
            <a:ext cx="1005840" cy="274320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80760" y="613562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Low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72200" y="6464808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EF8"/>
                </a:solidFill>
              </a:rPr>
              <a:t>• Login IP restrictions not configured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6793992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EF8"/>
                </a:solidFill>
              </a:rPr>
              <a:t>• Users with excessive permission sets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72200" y="7123176"/>
            <a:ext cx="5669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EF8"/>
                </a:solidFill>
              </a:rPr>
              <a:t>• Async Sharing Recalculation not enabled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Code Quality, Test Coverage &amp; Flow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0EEF8"/>
                </a:solidFill>
              </a:rPr>
              <a:t>46 + 7 + 6 checks — PMD, Graph Engine, and Flow Scanner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0EEF8"/>
                </a:solidFill>
              </a:rPr>
              <a:t>SF Tech Debt Assessor  |  Confidential  |  Steven Bilgram, Success Architect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0EEF8"/>
                </a:solidFill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" y="1170432"/>
            <a:ext cx="3840480" cy="5349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" y="1170432"/>
            <a:ext cx="3840480" cy="384048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" y="11887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Code Quality — 46 Checks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664208"/>
            <a:ext cx="164592" cy="228600"/>
          </a:xfrm>
          <a:prstGeom prst="rect">
            <a:avLst/>
          </a:prstGeom>
          <a:solidFill>
            <a:srgbClr val="C239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664208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Critical (7)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195681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DML/SOQL inside loops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223113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Dynamic SOQL injection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250545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System.setPassword() — AppExchange violation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2779775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Hardwired crypto keys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3054095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CRUD violations (PMD)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3328415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Database.executeAnonymous()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3602735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Open redirect risk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986783"/>
            <a:ext cx="164592" cy="22860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986783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High (20)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4279392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Classes without sharing declaration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" y="4553712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Weak crypto (MD5/SHA-1)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828031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@IsTest(SeeAllData=true)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5102351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No assert statements in tests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5376671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Missing PMD design 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5650991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UserInfo.getSessionId()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6035039"/>
            <a:ext cx="164592" cy="228600"/>
          </a:xfrm>
          <a:prstGeom prst="rect">
            <a:avLst/>
          </a:prstGeom>
          <a:solidFill>
            <a:srgbClr val="F5B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035039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Medium (13)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327647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Outdated API versions (&lt;v55)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" y="6601967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@future annotation usage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6876287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System.debug statements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" y="7150607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Excessive parameters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7534655"/>
            <a:ext cx="164592" cy="228600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7534655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Low (6)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" y="7827263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Test data without @TestSetup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" y="8101583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debug() without LoggingLevel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8375904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</a:rPr>
              <a:t>  • Other PMD hygiene rules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06240" y="1170432"/>
            <a:ext cx="3657600" cy="5349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06240" y="1170432"/>
            <a:ext cx="3657600" cy="384048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15968" y="118872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Test Coverage — 7 Checks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0" y="1664208"/>
            <a:ext cx="164592" cy="228600"/>
          </a:xfrm>
          <a:prstGeom prst="rect">
            <a:avLst/>
          </a:prstGeom>
          <a:solidFill>
            <a:srgbClr val="C239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26280" y="166420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Classes / triggers with zero coverage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43400" y="1938528"/>
            <a:ext cx="3401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5454"/>
                </a:solidFill>
              </a:rPr>
              <a:t>Untested components block every deployment. Abstract classes with 0 executable lines excluded.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97680" y="2441448"/>
            <a:ext cx="164592" cy="22860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26280" y="244144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Below 75% coverage (org-owned only)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43400" y="2715768"/>
            <a:ext cx="3401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5454"/>
                </a:solidFill>
              </a:rPr>
              <a:t>Managed package classes excluded. Identifies true coverage risk.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0" y="3218687"/>
            <a:ext cx="164592" cy="22860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26280" y="3218687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Low test class ratio (&lt; 30%)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43400" y="3493007"/>
            <a:ext cx="3401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5454"/>
                </a:solidFill>
              </a:rPr>
              <a:t>Too few test classes relative to production code volume.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97680" y="3995927"/>
            <a:ext cx="164592" cy="228600"/>
          </a:xfrm>
          <a:prstGeom prst="rect">
            <a:avLst/>
          </a:prstGeom>
          <a:solidFill>
            <a:srgbClr val="F5B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26280" y="3995927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Triggers without dedicated test class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43400" y="4270247"/>
            <a:ext cx="3401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5454"/>
                </a:solidFill>
              </a:rPr>
              <a:t>By naming convention — triggers tested indirectly are higher risk.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97680" y="4773167"/>
            <a:ext cx="164592" cy="228600"/>
          </a:xfrm>
          <a:prstGeom prst="rect">
            <a:avLst/>
          </a:prstGeom>
          <a:solidFill>
            <a:srgbClr val="F5B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26280" y="4773167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Test classes with no System.runAs()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43400" y="5047487"/>
            <a:ext cx="3401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5454"/>
                </a:solidFill>
              </a:rPr>
              <a:t>Multi-user and sharing scenarios never validated. PMD rule.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97680" y="5550407"/>
            <a:ext cx="164592" cy="228600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26280" y="5550407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Assert statements missing message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43400" y="5824727"/>
            <a:ext cx="3401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5454"/>
                </a:solidFill>
              </a:rPr>
              <a:t>Failures output 'Assertion failed' — no context. PMD rule.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97680" y="6327647"/>
            <a:ext cx="164592" cy="228600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26280" y="6327647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Deprecated testMethod keyword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43400" y="6601967"/>
            <a:ext cx="340156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5454"/>
                </a:solidFill>
              </a:rPr>
              <a:t>Replace with @isTest annotation. PMD rule.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46720" y="1170432"/>
            <a:ext cx="3931920" cy="5349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0" y="1170432"/>
            <a:ext cx="3931920" cy="384048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56448" y="1188720"/>
            <a:ext cx="37490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Flow Quality — 6 Checks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38160" y="1664208"/>
            <a:ext cx="164592" cy="22860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66760" y="166420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Active Process Builder flows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183879" y="1938528"/>
            <a:ext cx="3675887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5454"/>
                </a:solidFill>
              </a:rPr>
              <a:t>ProcessType = Workflow — legacy automation on Salesforce's deprecation path. Migrate to record-triggered flows.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138160" y="2487168"/>
            <a:ext cx="164592" cy="22860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66760" y="248716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DML operations inside loops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83879" y="2761488"/>
            <a:ext cx="3675887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5454"/>
                </a:solidFill>
              </a:rPr>
              <a:t>Flows with both Loop and record operation elements risk hitting governor limits on large data sets.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38160" y="3310128"/>
            <a:ext cx="164592" cy="22860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366760" y="331012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System Context Without Sharing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83879" y="3584448"/>
            <a:ext cx="3675887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5454"/>
                </a:solidFill>
              </a:rPr>
              <a:t>Bypasses record-level security entirely. Privilege escalation risk if user data influences filters.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138160" y="4133087"/>
            <a:ext cx="164592" cy="228600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366760" y="4133087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System Context With Sharing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83879" y="4407407"/>
            <a:ext cx="3675887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5454"/>
                </a:solidFill>
              </a:rPr>
              <a:t>Elevated privileges — confirm this is intentional. Switch to User context where possible.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38160" y="4956047"/>
            <a:ext cx="164592" cy="228600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66760" y="4956047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Obsolete flow versions (&gt; 50)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183879" y="5230367"/>
            <a:ext cx="3675887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5454"/>
                </a:solidFill>
              </a:rPr>
              <a:t>Deactivated versions accumulate after each activation. Slows Setup and clutters version history.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138160" y="5779007"/>
            <a:ext cx="164592" cy="228600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366760" y="5779007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</a:rPr>
              <a:t>Active flows with no description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83879" y="6053327"/>
            <a:ext cx="3675887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545454"/>
                </a:solidFill>
              </a:rPr>
              <a:t>Undocumented flows are difficult to audit and maintain over time.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Accuracy-First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0EEF8"/>
                </a:solidFill>
              </a:rPr>
              <a:t>Built to present to customers — every check validated against Salesforce platform behaviour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0EEF8"/>
                </a:solidFill>
              </a:rPr>
              <a:t>SF Tech Debt Assessor  |  Confidential  |  Steven Bilgram, Success Architect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0EEF8"/>
                </a:solidFill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234440"/>
            <a:ext cx="5669280" cy="1627632"/>
          </a:xfrm>
          <a:prstGeom prst="rect">
            <a:avLst/>
          </a:prstGeom>
          <a:solidFill>
            <a:srgbClr val="F3F4F6"/>
          </a:solidFill>
          <a:ln w="5080">
            <a:solidFill>
              <a:srgbClr val="00A1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234440"/>
            <a:ext cx="164592" cy="1627632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30759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55E"/>
                </a:solidFill>
              </a:rPr>
              <a:t>Managed packages excluded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673352"/>
            <a:ext cx="5285232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Every query filters NamespacePrefix = null or cross-references org-owned IDs. Managed package Flows, Apex classes, queues, duplicate rules, record types, and remote sites never inflate findings.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1928" y="1234440"/>
            <a:ext cx="5669280" cy="1627632"/>
          </a:xfrm>
          <a:prstGeom prst="rect">
            <a:avLst/>
          </a:prstGeom>
          <a:solidFill>
            <a:srgbClr val="F3F4F6"/>
          </a:solidFill>
          <a:ln w="5080">
            <a:solidFill>
              <a:srgbClr val="00A1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1928" y="1234440"/>
            <a:ext cx="164592" cy="1627632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130759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55E"/>
                </a:solidFill>
              </a:rPr>
              <a:t>Canary queries prevent false positives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1673352"/>
            <a:ext cx="5285232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Features that aren't licensed (Knowledge, OmniStudio) are detected via explicit canary queries. Findings only fire when the feature is confirmed enabled — not when a query silently returns empty.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2971800"/>
            <a:ext cx="5669280" cy="1627632"/>
          </a:xfrm>
          <a:prstGeom prst="rect">
            <a:avLst/>
          </a:prstGeom>
          <a:solidFill>
            <a:srgbClr val="F3F4F6"/>
          </a:solidFill>
          <a:ln w="5080">
            <a:solidFill>
              <a:srgbClr val="00A1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8600" y="2971800"/>
            <a:ext cx="164592" cy="1627632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04495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55E"/>
                </a:solidFill>
              </a:rPr>
              <a:t>Silent failures surfaced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410712"/>
            <a:ext cx="5285232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Known Salesforce API limitations (AppDefinition profile-filtering, ServiceChannel permission requirements) are handled with corroborating signal checks rather than blind count thresholds.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81928" y="2971800"/>
            <a:ext cx="5669280" cy="1627632"/>
          </a:xfrm>
          <a:prstGeom prst="rect">
            <a:avLst/>
          </a:prstGeom>
          <a:solidFill>
            <a:srgbClr val="F3F4F6"/>
          </a:solidFill>
          <a:ln w="5080">
            <a:solidFill>
              <a:srgbClr val="00A1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81928" y="2971800"/>
            <a:ext cx="164592" cy="1627632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304495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55E"/>
                </a:solidFill>
              </a:rPr>
              <a:t>Edition-aware limits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6248" y="3410712"/>
            <a:ext cx="5285232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Org limit thresholds (custom objects, API calls, storage) use the actual values from the Limits REST API — not hardcoded guesses. Enterprise = 2,000 objects; Developer = 400; etc.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4709160"/>
            <a:ext cx="5669280" cy="1627632"/>
          </a:xfrm>
          <a:prstGeom prst="rect">
            <a:avLst/>
          </a:prstGeom>
          <a:solidFill>
            <a:srgbClr val="F3F4F6"/>
          </a:solidFill>
          <a:ln w="5080">
            <a:solidFill>
              <a:srgbClr val="00A1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4709160"/>
            <a:ext cx="164592" cy="1627632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78231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55E"/>
                </a:solidFill>
              </a:rPr>
              <a:t>Standard vs Tooling API routing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148072"/>
            <a:ext cx="5285232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FlowElement, WorkflowRule, AppDefinition, and ApexClass body scans use the Tooling API. Standard SOQL is used where appropriate. Wrong routing causes silent failures — every query is validated.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81928" y="4709160"/>
            <a:ext cx="5669280" cy="1627632"/>
          </a:xfrm>
          <a:prstGeom prst="rect">
            <a:avLst/>
          </a:prstGeom>
          <a:solidFill>
            <a:srgbClr val="F3F4F6"/>
          </a:solidFill>
          <a:ln w="5080">
            <a:solidFill>
              <a:srgbClr val="00A1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81928" y="4709160"/>
            <a:ext cx="164592" cy="1627632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782312"/>
            <a:ext cx="5303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6255E"/>
                </a:solidFill>
              </a:rPr>
              <a:t>Inactive records excluded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56248" y="5148072"/>
            <a:ext cx="5285232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Active/IsActive/Status filters applied consistently — workflow rules, escalation rules, assignment rules, email service functions, email templates, and Apex classes all scoped to active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Assessment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0EEF8"/>
                </a:solidFill>
              </a:rPr>
              <a:t>Scored, prioritised, and export-ready in under 60 seconds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0EEF8"/>
                </a:solidFill>
              </a:rPr>
              <a:t>SF Tech Debt Assessor  |  Confidential  |  Steven Bilgram, Success Architect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0EEF8"/>
                </a:solidFill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170432"/>
            <a:ext cx="3200400" cy="534924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261872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Overall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7373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00A1E0"/>
                </a:solidFill>
              </a:rPr>
              <a:t>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2788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D0EEF8"/>
                </a:solidFill>
              </a:rPr>
              <a:t>/ 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2461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45454"/>
                </a:solidFill>
              </a:rPr>
              <a:t>Example org — illustrative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749039"/>
            <a:ext cx="2560320" cy="219456"/>
          </a:xfrm>
          <a:prstGeom prst="rect">
            <a:avLst/>
          </a:prstGeom>
          <a:solidFill>
            <a:srgbClr val="3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3749039"/>
            <a:ext cx="1228953" cy="219456"/>
          </a:xfrm>
          <a:prstGeom prst="rect">
            <a:avLst/>
          </a:prstGeom>
          <a:solidFill>
            <a:srgbClr val="C239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3749039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Sharing &amp; 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749039"/>
            <a:ext cx="457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48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059935"/>
            <a:ext cx="2560320" cy="219456"/>
          </a:xfrm>
          <a:prstGeom prst="rect">
            <a:avLst/>
          </a:prstGeom>
          <a:solidFill>
            <a:srgbClr val="3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4059935"/>
            <a:ext cx="1408176" cy="219456"/>
          </a:xfrm>
          <a:prstGeom prst="rect">
            <a:avLst/>
          </a:prstGeom>
          <a:solidFill>
            <a:srgbClr val="C239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059935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Flow Quality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4059935"/>
            <a:ext cx="457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55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370831"/>
            <a:ext cx="2560320" cy="219456"/>
          </a:xfrm>
          <a:prstGeom prst="rect">
            <a:avLst/>
          </a:prstGeom>
          <a:solidFill>
            <a:srgbClr val="3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4370831"/>
            <a:ext cx="1561795" cy="21945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4370831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Code 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4370831"/>
            <a:ext cx="457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61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4681727"/>
            <a:ext cx="2560320" cy="219456"/>
          </a:xfrm>
          <a:prstGeom prst="rect">
            <a:avLst/>
          </a:prstGeom>
          <a:solidFill>
            <a:srgbClr val="3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20040" y="4681727"/>
            <a:ext cx="1715414" cy="219456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681727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Service Cloud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4681727"/>
            <a:ext cx="457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67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4992624"/>
            <a:ext cx="2560320" cy="219456"/>
          </a:xfrm>
          <a:prstGeom prst="rect">
            <a:avLst/>
          </a:prstGeom>
          <a:solidFill>
            <a:srgbClr val="3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0040" y="4992624"/>
            <a:ext cx="1843430" cy="219456"/>
          </a:xfrm>
          <a:prstGeom prst="rect">
            <a:avLst/>
          </a:prstGeom>
          <a:solidFill>
            <a:srgbClr val="F5B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499262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Test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40" y="4992624"/>
            <a:ext cx="457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72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5303520"/>
            <a:ext cx="2560320" cy="219456"/>
          </a:xfrm>
          <a:prstGeom prst="rect">
            <a:avLst/>
          </a:prstGeom>
          <a:solidFill>
            <a:srgbClr val="3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5303520"/>
            <a:ext cx="2022652" cy="219456"/>
          </a:xfrm>
          <a:prstGeom prst="rect">
            <a:avLst/>
          </a:prstGeom>
          <a:solidFill>
            <a:srgbClr val="F5B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0040" y="530352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Configuration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34640" y="5303520"/>
            <a:ext cx="457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79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5614416"/>
            <a:ext cx="2560320" cy="219456"/>
          </a:xfrm>
          <a:prstGeom prst="rect">
            <a:avLst/>
          </a:prstGeom>
          <a:solidFill>
            <a:srgbClr val="3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0040" y="5614416"/>
            <a:ext cx="2176272" cy="219456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561441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Integrations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34640" y="5614416"/>
            <a:ext cx="457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85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925312"/>
            <a:ext cx="2560320" cy="219456"/>
          </a:xfrm>
          <a:prstGeom prst="rect">
            <a:avLst/>
          </a:prstGeom>
          <a:solidFill>
            <a:srgbClr val="3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0040" y="5925312"/>
            <a:ext cx="2406700" cy="219456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0040" y="5925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Org Limits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34640" y="5925312"/>
            <a:ext cx="457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11880" y="1170432"/>
            <a:ext cx="5029200" cy="534924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11880" y="1170432"/>
            <a:ext cx="5029200" cy="347472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30752" y="1188720"/>
            <a:ext cx="4846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Sample Findings (prioritised by severity)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03320" y="1627632"/>
            <a:ext cx="256032" cy="274320"/>
          </a:xfrm>
          <a:prstGeom prst="rect">
            <a:avLst/>
          </a:prstGeom>
          <a:solidFill>
            <a:srgbClr val="C239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03320" y="163677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360" y="165506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213 Objects with Internal Public Read/Write OWD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703320" y="2002536"/>
            <a:ext cx="256032" cy="274320"/>
          </a:xfrm>
          <a:prstGeom prst="rect">
            <a:avLst/>
          </a:prstGeom>
          <a:solidFill>
            <a:srgbClr val="C239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703320" y="2011679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23360" y="2029967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47 Non-Admin Users with Modify All Data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03320" y="2377440"/>
            <a:ext cx="256032" cy="274320"/>
          </a:xfrm>
          <a:prstGeom prst="rect">
            <a:avLst/>
          </a:prstGeom>
          <a:solidFill>
            <a:srgbClr val="C239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703320" y="23865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23360" y="240487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12 Classes with CRUD violations (no FLS check)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703320" y="2752344"/>
            <a:ext cx="256032" cy="27432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703320" y="2761487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023360" y="2779775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Active Process Builder Flows — legacy automation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703320" y="3127248"/>
            <a:ext cx="256032" cy="27432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703320" y="3136391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23360" y="3154679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SOAP login() still in use — disabled Spring '26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703320" y="3502152"/>
            <a:ext cx="256032" cy="27432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703320" y="351129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02336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No Escalation Rules configured despite 130 queues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703320" y="3877056"/>
            <a:ext cx="256032" cy="274320"/>
          </a:xfrm>
          <a:prstGeom prst="rect">
            <a:avLst/>
          </a:prstGeom>
          <a:solidFill>
            <a:srgbClr val="E87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703320" y="38862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23360" y="390448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Test classes not using System.runAs()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03320" y="4251959"/>
            <a:ext cx="256032" cy="274320"/>
          </a:xfrm>
          <a:prstGeom prst="rect">
            <a:avLst/>
          </a:prstGeom>
          <a:solidFill>
            <a:srgbClr val="F5B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703320" y="4261103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23360" y="427939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873 → 241 Classes Below 75% Coverage (scoped)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703320" y="4626864"/>
            <a:ext cx="256032" cy="274320"/>
          </a:xfrm>
          <a:prstGeom prst="rect">
            <a:avLst/>
          </a:prstGeom>
          <a:solidFill>
            <a:srgbClr val="F5B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703320" y="4636007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23360" y="465429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Stale published Knowledge articles (12+ months)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703320" y="5001768"/>
            <a:ext cx="256032" cy="274320"/>
          </a:xfrm>
          <a:prstGeom prst="rect">
            <a:avLst/>
          </a:prstGeom>
          <a:solidFill>
            <a:srgbClr val="F5B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703320" y="5010912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023360" y="502920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Email templates include inactive/retired templates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703320" y="5376672"/>
            <a:ext cx="256032" cy="274320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703320" y="538581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023360" y="540410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130 Queues — review routing consolidation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703320" y="5751576"/>
            <a:ext cx="256032" cy="274320"/>
          </a:xfrm>
          <a:prstGeom prst="rect">
            <a:avLst/>
          </a:prstGeom>
          <a:solidFill>
            <a:srgbClr val="2E9E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03320" y="576072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L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023360" y="577900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Active flows with no description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823960" y="1170432"/>
            <a:ext cx="3154680" cy="534924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942832" y="123444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Export Options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915400" y="1691640"/>
            <a:ext cx="2926080" cy="27432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979408" y="170992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PDF Report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979408" y="2020824"/>
            <a:ext cx="2834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EF8"/>
                </a:solidFill>
              </a:rPr>
              <a:t>Full category scores, all findings, recommendations, and affected record lists per issue.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915400" y="2752344"/>
            <a:ext cx="2926080" cy="27432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979408" y="27706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Excel Workbook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979408" y="3081527"/>
            <a:ext cx="2834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EF8"/>
                </a:solidFill>
              </a:rPr>
              <a:t>One tab per category + Summary tab. Filter and sort by severity.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915400" y="3813048"/>
            <a:ext cx="2926080" cy="27432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979408" y="3831335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CSV Flat File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79408" y="4142232"/>
            <a:ext cx="2834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EF8"/>
                </a:solidFill>
              </a:rPr>
              <a:t>One row per affected record. Import directly into a project tracker or Jira.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915400" y="4873752"/>
            <a:ext cx="2926080" cy="27432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79408" y="48920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Remediation Roadmap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79408" y="5202936"/>
            <a:ext cx="2834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EF8"/>
                </a:solidFill>
              </a:rPr>
              <a:t>Full-screen phased view — Critical → High → Medium → Low. Print to PDF for stakeholders.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Getting Started — 15-Minute Setup Per Org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0EEF8"/>
                </a:solidFill>
              </a:rPr>
              <a:t>One Connected App registration. Then connect any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0EEF8"/>
                </a:solidFill>
              </a:rPr>
              <a:t>SF Tech Debt Assessor  |  Confidential  |  Steven Bilgram, Success Architect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0EEF8"/>
                </a:solidFill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234440"/>
            <a:ext cx="2743200" cy="475488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261872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255E"/>
                </a:solidFill>
              </a:rPr>
              <a:t>Step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148132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Setup → App Manager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1709928"/>
            <a:ext cx="2743200" cy="3200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" y="1783080"/>
            <a:ext cx="2542032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New Connected App → enable OAuth → add callback URL:
https://sf-tech-debt-assessor.onrender.com/auth/callback
Scopes: api + refresh_token  |  Disable PKCE  |  Save → wait 10 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1234440"/>
            <a:ext cx="2743200" cy="475488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1840" y="1261872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255E"/>
                </a:solidFill>
              </a:rPr>
              <a:t>Step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148132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Copy credentials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709928"/>
            <a:ext cx="2743200" cy="3200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10128" y="1783080"/>
            <a:ext cx="2542032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App Manager → View → Manage Consumer Details
Copy Consumer Key (Client ID) and Consumer Secret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1234440"/>
            <a:ext cx="2743200" cy="475488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1261872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255E"/>
                </a:solidFill>
              </a:rPr>
              <a:t>Step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148132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Connect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1709928"/>
            <a:ext cx="2743200" cy="3200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81928" y="1783080"/>
            <a:ext cx="2542032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Open sf-tech-debt-assessor.onrender.com
Enter org URL, Client ID, Client Secret → Connect
Log in with Salesforce → Allow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0" y="1234440"/>
            <a:ext cx="2743200" cy="475488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1261872"/>
            <a:ext cx="640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255E"/>
                </a:solidFill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148132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Assessment runs automatically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0" y="1709928"/>
            <a:ext cx="2743200" cy="3200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53728" y="1783080"/>
            <a:ext cx="2542032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</a:rPr>
              <a:t>~45 seconds for a full org scan
All 341 checks run in parallel across 23 categories
No action required — just wait for results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5074920"/>
            <a:ext cx="11704320" cy="114300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5120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Permissions required on the authenticating user: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546811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EEF8"/>
                </a:solidFill>
              </a:rPr>
              <a:t>✓  API Enabled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46811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EEF8"/>
                </a:solidFill>
              </a:rPr>
              <a:t>✓  View Setup and Configuration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78815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EEF8"/>
                </a:solidFill>
              </a:rPr>
              <a:t>✓  Modify Metadata Through Metadata API Functions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578815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EEF8"/>
                </a:solidFill>
              </a:rPr>
              <a:t>✓  System Administrator profile provides all of the above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Why Use This 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943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0EEF8"/>
                </a:solidFill>
              </a:rPr>
              <a:t>Faster, deeper, and more accurate than manual org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0EEF8"/>
                </a:solidFill>
              </a:rPr>
              <a:t>SF Tech Debt Assessor  |  Confidential  |  Steven Bilgram, Success Architect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0" y="651052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D0EEF8"/>
                </a:solidFill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188720"/>
            <a:ext cx="3474720" cy="402336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234440"/>
            <a:ext cx="3337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3794760" y="1188720"/>
            <a:ext cx="3840480" cy="402336"/>
          </a:xfrm>
          <a:prstGeom prst="rect">
            <a:avLst/>
          </a:prstGeom>
          <a:solidFill>
            <a:srgbClr val="C239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200" y="1234440"/>
            <a:ext cx="3703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Manual Assessment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26679" y="1188720"/>
            <a:ext cx="4297680" cy="402336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19" y="1234440"/>
            <a:ext cx="4160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SF Tech Debt Assessor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1591056"/>
            <a:ext cx="3474720" cy="402336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164592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Time to complete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94760" y="1591056"/>
            <a:ext cx="3840480" cy="40233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200" y="1645920"/>
            <a:ext cx="3703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5454"/>
                </a:solidFill>
              </a:rPr>
              <a:t>2–3 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26679" y="1591056"/>
            <a:ext cx="4297680" cy="40233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19" y="1645920"/>
            <a:ext cx="4160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255E"/>
                </a:solidFill>
              </a:rPr>
              <a:t>&lt; 60 seconds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2029967"/>
            <a:ext cx="3474720" cy="402336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2084831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Categories covered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94760" y="2029967"/>
            <a:ext cx="384048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86200" y="2084831"/>
            <a:ext cx="3703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5454"/>
                </a:solidFill>
              </a:rPr>
              <a:t>Varies (5–10 typical)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26679" y="2029967"/>
            <a:ext cx="429768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18119" y="2084831"/>
            <a:ext cx="4160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255E"/>
                </a:solidFill>
              </a:rPr>
              <a:t>23 categories, every run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" y="2468880"/>
            <a:ext cx="3474720" cy="402336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2523744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Check depth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94760" y="2468880"/>
            <a:ext cx="3840480" cy="40233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86200" y="2523744"/>
            <a:ext cx="3703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5454"/>
                </a:solidFill>
              </a:rPr>
              <a:t>~50–80 checks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26679" y="2468880"/>
            <a:ext cx="4297680" cy="40233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18119" y="2523744"/>
            <a:ext cx="4160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255E"/>
                </a:solidFill>
              </a:rPr>
              <a:t>341 checks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" y="2907791"/>
            <a:ext cx="3474720" cy="402336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" y="296265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Managed packages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94760" y="2907791"/>
            <a:ext cx="384048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86200" y="2962656"/>
            <a:ext cx="3703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5454"/>
                </a:solidFill>
              </a:rPr>
              <a:t>Often included (inflated)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26679" y="2907791"/>
            <a:ext cx="429768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18119" y="2962656"/>
            <a:ext cx="4160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255E"/>
                </a:solidFill>
              </a:rPr>
              <a:t>Excluded — namespace-filtered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8600" y="3346704"/>
            <a:ext cx="3474720" cy="402336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40156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Inactive records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94760" y="3346704"/>
            <a:ext cx="3840480" cy="40233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886200" y="3401568"/>
            <a:ext cx="3703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5454"/>
                </a:solidFill>
              </a:rPr>
              <a:t>Often included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26679" y="3346704"/>
            <a:ext cx="4297680" cy="40233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18119" y="3401568"/>
            <a:ext cx="4160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255E"/>
                </a:solidFill>
              </a:rPr>
              <a:t>Filtered — active only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8600" y="3785615"/>
            <a:ext cx="3474720" cy="402336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" y="3840479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Export formats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794760" y="3785615"/>
            <a:ext cx="384048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886200" y="3840479"/>
            <a:ext cx="3703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5454"/>
                </a:solidFill>
              </a:rPr>
              <a:t>Manual document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726679" y="3785615"/>
            <a:ext cx="429768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18119" y="3840479"/>
            <a:ext cx="4160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255E"/>
                </a:solidFill>
              </a:rPr>
              <a:t>PDF, Excel, CSV, Roadmap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28600" y="4224528"/>
            <a:ext cx="3474720" cy="402336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0040" y="427939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Repeatability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794760" y="4224528"/>
            <a:ext cx="3840480" cy="40233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86200" y="4279392"/>
            <a:ext cx="3703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5454"/>
                </a:solidFill>
              </a:rPr>
              <a:t>Single point in time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726679" y="4224528"/>
            <a:ext cx="4297680" cy="40233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818119" y="4279392"/>
            <a:ext cx="4160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255E"/>
                </a:solidFill>
              </a:rPr>
              <a:t>Re-run any time, track over time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28600" y="4663440"/>
            <a:ext cx="3474720" cy="402336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20040" y="4718303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Silent failures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794760" y="4663440"/>
            <a:ext cx="384048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86200" y="4718303"/>
            <a:ext cx="3703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5454"/>
                </a:solidFill>
              </a:rPr>
              <a:t>Unknown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26679" y="4663440"/>
            <a:ext cx="429768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8119" y="4718303"/>
            <a:ext cx="4160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255E"/>
                </a:solidFill>
              </a:rPr>
              <a:t>Canary queries detect unavailable APIs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8600" y="5102352"/>
            <a:ext cx="3474720" cy="402336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20040" y="515721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Cost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794760" y="5102352"/>
            <a:ext cx="3840480" cy="40233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86200" y="5157216"/>
            <a:ext cx="3703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45454"/>
                </a:solidFill>
              </a:rPr>
              <a:t>Consultant hours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726679" y="5102352"/>
            <a:ext cx="4297680" cy="40233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818119" y="5157216"/>
            <a:ext cx="4160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255E"/>
                </a:solidFill>
              </a:rPr>
              <a:t>Free — self-service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2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Ready to assess your org?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A1E0"/>
                </a:solidFill>
              </a:rPr>
              <a:t>sf-tech-debt-assessor.onrender.com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D0EEF8"/>
                </a:solidFill>
              </a:rPr>
              <a:t>15-minute setup · Read-only · Free · No data stored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337560"/>
            <a:ext cx="2651760" cy="1920240"/>
          </a:xfrm>
          <a:prstGeom prst="rect">
            <a:avLst/>
          </a:prstGeom>
          <a:solidFill>
            <a:srgbClr val="1E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2651760" cy="36576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355848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341 Checks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67328"/>
            <a:ext cx="2468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EF8"/>
                </a:solidFill>
              </a:rPr>
              <a:t>Across 23 categories — the most
comprehensive Salesforce org audit available.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337560"/>
            <a:ext cx="2651760" cy="1920240"/>
          </a:xfrm>
          <a:prstGeom prst="rect">
            <a:avLst/>
          </a:prstGeom>
          <a:solidFill>
            <a:srgbClr val="1E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3337560"/>
            <a:ext cx="2651760" cy="36576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3355848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Read-Only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767328"/>
            <a:ext cx="2468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EF8"/>
                </a:solidFill>
              </a:rPr>
              <a:t>Zero writes to Salesforce.
All results live in your browser tab only.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3337560"/>
            <a:ext cx="2651760" cy="1920240"/>
          </a:xfrm>
          <a:prstGeom prst="rect">
            <a:avLst/>
          </a:prstGeom>
          <a:solidFill>
            <a:srgbClr val="1E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3337560"/>
            <a:ext cx="2651760" cy="36576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3355848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Export Ready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3767328"/>
            <a:ext cx="2468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EF8"/>
                </a:solidFill>
              </a:rPr>
              <a:t>PDF, Excel, CSV, and Remediation
Roadmap — ready to share with stakeholders.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61120" y="3337560"/>
            <a:ext cx="2651760" cy="1920240"/>
          </a:xfrm>
          <a:prstGeom prst="rect">
            <a:avLst/>
          </a:prstGeom>
          <a:solidFill>
            <a:srgbClr val="1E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61120" y="3337560"/>
            <a:ext cx="2651760" cy="365760"/>
          </a:xfrm>
          <a:prstGeom prst="rect">
            <a:avLst/>
          </a:prstGeom>
          <a:solidFill>
            <a:srgbClr val="00A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3355848"/>
            <a:ext cx="2468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Always Current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767328"/>
            <a:ext cx="24688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EEF8"/>
                </a:solidFill>
              </a:rPr>
              <a:t>Built against Spring '26 / Summer '26
enforcement dates and release notes.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Steven Bilgram  |  Success Architect  |  sbilgram@lgtm.io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D0EEF8"/>
                </a:solidFill>
              </a:rPr>
              <a:t>github.com/sbilgram-lgtm/sf-tech-debt-assessor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